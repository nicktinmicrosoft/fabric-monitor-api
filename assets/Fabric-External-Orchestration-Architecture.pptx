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customer-managed host can be on premises or in another cloud; it is not necessarily a laptop or a single server. Airflow owns the overall DAG. It authenticates to Fabric, submits an ingestion pipeline, saves the job instance Location, and polls until Completed. The dashed arrow represents client-initiated status checks and responses, not Fabric pushing a callback. A 202 response is acceptance, not completion. Honor Retry-After; handle failed, cancelled, deduped, unknown and timed-out runs explicitly. Reconcile ambiguous submissions before retrying. Once ingestion succeeds, an approved external dbt runtime builds and tests models against the selected Fabric target. Warehouse uses dbt-fabric and writable SQL; Lakehouse uses dbt-fabricspark through Spark/Livy session jobs, not its read-only SQL analytics endpoint. The diagram represents a chosen target, not arbitrary automatic movement between engines. Confirm identity support for the actual item and downstream resources. Store credentials securely and verify network reachability. Production hosting must be reliable and always available. No live deployment is implied.</a:t>
            </a:r>
          </a:p>
          <a:p/>
          <a:p>
            <a:r>
              <a:t>Sources:</a:t>
            </a:r>
          </a:p>
          <a:p>
            <a:r>
              <a:t>https://learn.microsoft.com/en-us/rest/api/fabric/core/job-scheduler/run-on-demand-item-job</a:t>
            </a:r>
          </a:p>
          <a:p>
            <a:r>
              <a:t>https://learn.microsoft.com/en-us/rest/api/fabric/core/job-scheduler/get-item-job-instance</a:t>
            </a:r>
          </a:p>
          <a:p>
            <a:r>
              <a:t>https://docs.getdbt.com/docs/local/connect-data-platform/fabric-setup</a:t>
            </a:r>
          </a:p>
          <a:p>
            <a:r>
              <a:t>https://docs.getdbt.com/docs/local/connect-data-platform/fabricspark-setup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This reverses the control direction. The Fabric pipeline first loads Bronze using a Copy activity. On success a Web activity calls the actual external hosting service's authenticated start API. The service queues or dispatches a durable dbt run and returns an opaque job ID. Save it, then use bounded Until/Web GET polling or an explicitly implemented callback protocol to determine the final outcome. The runner reports status through its service; poll responses return on the same request path. The service, not dbt Core itself, provides the start/status API. The external runner connects back to the selected Fabric compute and executes dbt transformations and tests. Warehouse uses dbt-fabric over SQL; Lakehouse uses dbt-fabricspark over Spark/Livy. Continue downstream only when the external job explicitly succeeds; fail or escalate failures, cancellation, unknown states and timeout. Decide retries, duplicate protection, durable correlation, cancellation, credentials and network reachability before production. If the service is privately reachable, verify the supported Web activity gateway/network configuration. A gateway is not itself a dbt job runner. No universal /jobs endpoint, production implementation, or live deployment is implied.</a:t>
            </a:r>
          </a:p>
          <a:p/>
          <a:p>
            <a:r>
              <a:t>Sources:</a:t>
            </a:r>
          </a:p>
          <a:p>
            <a:r>
              <a:t>https://learn.microsoft.com/en-us/fabric/data-factory/web-activity</a:t>
            </a:r>
          </a:p>
          <a:p>
            <a:r>
              <a:t>https://docs.getdbt.com/docs/local/connect-data-platform/fabric-setup</a:t>
            </a:r>
          </a:p>
          <a:p>
            <a:r>
              <a:t>https://docs.getdbt.com/docs/local/connect-data-platform/fabricspark-setup</a:t>
            </a:r>
          </a:p>
          <a:p>
            <a:r>
              <a:t>https://learn.microsoft.com/en-us/fabric/data-factory/webhook-activity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learn.microsoft.com/en-us/rest/api/fabric/core/job-scheduler/run-on-demand-item-job" TargetMode="External"/><Relationship Id="rId7" Type="http://schemas.openxmlformats.org/officeDocument/2006/relationships/hyperlink" Target="https://learn.microsoft.com/en-us/rest/api/fabric/core/job-scheduler/get-item-job-instance" TargetMode="External"/><Relationship Id="rId8" Type="http://schemas.openxmlformats.org/officeDocument/2006/relationships/hyperlink" Target="https://docs.getdbt.com/docs/local/connect-data-platform/fabric-setup" TargetMode="External"/><Relationship Id="rId9" Type="http://schemas.openxmlformats.org/officeDocument/2006/relationships/hyperlink" Target="https://docs.getdbt.com/docs/local/connect-data-platform/fabricspark-setup" TargetMode="Externa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4.png"/><Relationship Id="rId9" Type="http://schemas.openxmlformats.org/officeDocument/2006/relationships/hyperlink" Target="https://learn.microsoft.com/en-us/fabric/data-factory/web-activity" TargetMode="External"/><Relationship Id="rId10" Type="http://schemas.openxmlformats.org/officeDocument/2006/relationships/hyperlink" Target="https://docs.getdbt.com/docs/local/connect-data-platform/fabric-setup" TargetMode="External"/><Relationship Id="rId11" Type="http://schemas.openxmlformats.org/officeDocument/2006/relationships/hyperlink" Target="https://docs.getdbt.com/docs/local/connect-data-platform/fabricspark-setup" TargetMode="External"/><Relationship Id="rId1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7F83"/>
          </a:solidFill>
          <a:ln w="12700">
            <a:solidFill>
              <a:srgbClr val="00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2801600" cy="256032"/>
          </a:xfrm>
          <a:prstGeom prst="rect">
            <a:avLst/>
          </a:prstGeom>
          <a:noFill/>
        </p:spPr>
        <p:txBody>
          <a:bodyPr wrap="square" tIns="0" bIns="0" lIns="0" rIns="0">
            <a:spAutoFit/>
          </a:bodyPr>
          <a:lstStyle/>
          <a:p>
            <a:pPr>
              <a:spcBef>
                <a:spcPts val="0"/>
              </a:spcBef>
              <a:spcAft>
                <a:spcPts val="0"/>
              </a:spcAft>
            </a:pPr>
            <a:r>
              <a:rPr sz="1100" b="1">
                <a:solidFill>
                  <a:srgbClr val="007F83"/>
                </a:solidFill>
                <a:latin typeface="Segoe UI"/>
              </a:rPr>
              <a:t>FABRIC  /  EXTERNAL ORCHESTRATION</a:t>
            </a:r>
          </a:p>
        </p:txBody>
      </p:sp>
      <p:sp>
        <p:nvSpPr>
          <p:cNvPr id="4" name="TextBox 3"/>
          <p:cNvSpPr txBox="1"/>
          <p:nvPr/>
        </p:nvSpPr>
        <p:spPr>
          <a:xfrm>
            <a:off x="548640" y="777240"/>
            <a:ext cx="13533120" cy="566928"/>
          </a:xfrm>
          <a:prstGeom prst="rect">
            <a:avLst/>
          </a:prstGeom>
          <a:noFill/>
        </p:spPr>
        <p:txBody>
          <a:bodyPr wrap="square" tIns="0" bIns="0" lIns="0" rIns="0">
            <a:spAutoFit/>
          </a:bodyPr>
          <a:lstStyle/>
          <a:p>
            <a:pPr>
              <a:spcBef>
                <a:spcPts val="0"/>
              </a:spcBef>
              <a:spcAft>
                <a:spcPts val="0"/>
              </a:spcAft>
            </a:pPr>
            <a:r>
              <a:rPr sz="3100" b="1">
                <a:solidFill>
                  <a:srgbClr val="16304E"/>
                </a:solidFill>
                <a:latin typeface="Segoe UI"/>
              </a:rPr>
              <a:t>External Airflow orchestrates Fabric</a:t>
            </a:r>
          </a:p>
        </p:txBody>
      </p:sp>
      <p:sp>
        <p:nvSpPr>
          <p:cNvPr id="5" name="TextBox 4"/>
          <p:cNvSpPr txBox="1"/>
          <p:nvPr/>
        </p:nvSpPr>
        <p:spPr>
          <a:xfrm>
            <a:off x="566928" y="1389888"/>
            <a:ext cx="13350240" cy="320040"/>
          </a:xfrm>
          <a:prstGeom prst="rect">
            <a:avLst/>
          </a:prstGeom>
          <a:noFill/>
        </p:spPr>
        <p:txBody>
          <a:bodyPr wrap="square" tIns="0" bIns="0" lIns="0" rIns="0">
            <a:spAutoFit/>
          </a:bodyPr>
          <a:lstStyle/>
          <a:p>
            <a:pPr>
              <a:spcBef>
                <a:spcPts val="0"/>
              </a:spcBef>
              <a:spcAft>
                <a:spcPts val="0"/>
              </a:spcAft>
            </a:pPr>
            <a:r>
              <a:rPr sz="1600" b="0">
                <a:solidFill>
                  <a:srgbClr val="52677D"/>
                </a:solidFill>
                <a:latin typeface="Segoe UI"/>
              </a:rPr>
              <a:t>Customer-managed scheduling; Fabric performs ingestion and transformations.</a:t>
            </a:r>
          </a:p>
        </p:txBody>
      </p:sp>
      <p:sp>
        <p:nvSpPr>
          <p:cNvPr id="6" name="TextBox 5"/>
          <p:cNvSpPr txBox="1"/>
          <p:nvPr/>
        </p:nvSpPr>
        <p:spPr>
          <a:xfrm>
            <a:off x="13395960" y="7799831"/>
            <a:ext cx="685800" cy="201168"/>
          </a:xfrm>
          <a:prstGeom prst="rect">
            <a:avLst/>
          </a:prstGeom>
          <a:noFill/>
        </p:spPr>
        <p:txBody>
          <a:bodyPr wrap="square" tIns="0" bIns="0" lIns="0" rIns="0">
            <a:spAutoFit/>
          </a:bodyPr>
          <a:lstStyle/>
          <a:p>
            <a:pPr algn="r">
              <a:spcBef>
                <a:spcPts val="0"/>
              </a:spcBef>
              <a:spcAft>
                <a:spcPts val="0"/>
              </a:spcAft>
            </a:pPr>
            <a:r>
              <a:rPr sz="1000" b="0">
                <a:solidFill>
                  <a:srgbClr val="52677D"/>
                </a:solidFill>
                <a:latin typeface="Segoe UI"/>
              </a:rPr>
              <a:t>1 / 2</a:t>
            </a:r>
          </a:p>
        </p:txBody>
      </p:sp>
      <p:sp>
        <p:nvSpPr>
          <p:cNvPr id="7" name="Rounded Rectangle 6"/>
          <p:cNvSpPr/>
          <p:nvPr/>
        </p:nvSpPr>
        <p:spPr>
          <a:xfrm>
            <a:off x="457200" y="1856231"/>
            <a:ext cx="4572000" cy="4553712"/>
          </a:xfrm>
          <a:prstGeom prst="roundRect">
            <a:avLst>
              <a:gd name="adj" fmla="val 12000"/>
            </a:avLst>
          </a:prstGeom>
          <a:solidFill>
            <a:srgbClr val="F2F6FA"/>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unner.png"/>
          <p:cNvPicPr>
            <a:picLocks noChangeAspect="1"/>
          </p:cNvPicPr>
          <p:nvPr/>
        </p:nvPicPr>
        <p:blipFill>
          <a:blip r:embed="rId2"/>
          <a:stretch>
            <a:fillRect/>
          </a:stretch>
        </p:blipFill>
        <p:spPr>
          <a:xfrm>
            <a:off x="658368" y="2029968"/>
            <a:ext cx="329184" cy="329184"/>
          </a:xfrm>
          <a:prstGeom prst="rect">
            <a:avLst/>
          </a:prstGeom>
        </p:spPr>
      </p:pic>
      <p:sp>
        <p:nvSpPr>
          <p:cNvPr id="9" name="TextBox 8"/>
          <p:cNvSpPr txBox="1"/>
          <p:nvPr/>
        </p:nvSpPr>
        <p:spPr>
          <a:xfrm>
            <a:off x="1124712" y="2066543"/>
            <a:ext cx="3703320" cy="274320"/>
          </a:xfrm>
          <a:prstGeom prst="rect">
            <a:avLst/>
          </a:prstGeom>
          <a:noFill/>
        </p:spPr>
        <p:txBody>
          <a:bodyPr wrap="square" tIns="0" bIns="0" lIns="0" rIns="0">
            <a:spAutoFit/>
          </a:bodyPr>
          <a:lstStyle/>
          <a:p>
            <a:pPr>
              <a:spcBef>
                <a:spcPts val="0"/>
              </a:spcBef>
              <a:spcAft>
                <a:spcPts val="0"/>
              </a:spcAft>
            </a:pPr>
            <a:r>
              <a:rPr sz="1200" b="1">
                <a:solidFill>
                  <a:srgbClr val="52677D"/>
                </a:solidFill>
                <a:latin typeface="Segoe UI"/>
              </a:rPr>
              <a:t>CUSTOMER-MANAGED HOST</a:t>
            </a:r>
          </a:p>
        </p:txBody>
      </p:sp>
      <p:sp>
        <p:nvSpPr>
          <p:cNvPr id="10" name="Rounded Rectangle 9"/>
          <p:cNvSpPr/>
          <p:nvPr/>
        </p:nvSpPr>
        <p:spPr>
          <a:xfrm>
            <a:off x="7772400" y="1856231"/>
            <a:ext cx="6400800" cy="4553712"/>
          </a:xfrm>
          <a:prstGeom prst="roundRect">
            <a:avLst>
              <a:gd name="adj" fmla="val 12000"/>
            </a:avLst>
          </a:prstGeom>
          <a:solidFill>
            <a:srgbClr val="F2F6FA"/>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loud.png"/>
          <p:cNvPicPr>
            <a:picLocks noChangeAspect="1"/>
          </p:cNvPicPr>
          <p:nvPr/>
        </p:nvPicPr>
        <p:blipFill>
          <a:blip r:embed="rId3"/>
          <a:stretch>
            <a:fillRect/>
          </a:stretch>
        </p:blipFill>
        <p:spPr>
          <a:xfrm>
            <a:off x="7973568" y="2029968"/>
            <a:ext cx="329184" cy="329184"/>
          </a:xfrm>
          <a:prstGeom prst="rect">
            <a:avLst/>
          </a:prstGeom>
        </p:spPr>
      </p:pic>
      <p:sp>
        <p:nvSpPr>
          <p:cNvPr id="12" name="TextBox 11"/>
          <p:cNvSpPr txBox="1"/>
          <p:nvPr/>
        </p:nvSpPr>
        <p:spPr>
          <a:xfrm>
            <a:off x="8439912" y="2066543"/>
            <a:ext cx="5532120" cy="274320"/>
          </a:xfrm>
          <a:prstGeom prst="rect">
            <a:avLst/>
          </a:prstGeom>
          <a:noFill/>
        </p:spPr>
        <p:txBody>
          <a:bodyPr wrap="square" tIns="0" bIns="0" lIns="0" rIns="0">
            <a:spAutoFit/>
          </a:bodyPr>
          <a:lstStyle/>
          <a:p>
            <a:pPr>
              <a:spcBef>
                <a:spcPts val="0"/>
              </a:spcBef>
              <a:spcAft>
                <a:spcPts val="0"/>
              </a:spcAft>
            </a:pPr>
            <a:r>
              <a:rPr sz="1200" b="1">
                <a:solidFill>
                  <a:srgbClr val="52677D"/>
                </a:solidFill>
                <a:latin typeface="Segoe UI"/>
              </a:rPr>
              <a:t>MICROSOFT FABRIC</a:t>
            </a:r>
          </a:p>
        </p:txBody>
      </p:sp>
      <p:cxnSp>
        <p:nvCxnSpPr>
          <p:cNvPr id="13" name="Connector 12"/>
          <p:cNvCxnSpPr/>
          <p:nvPr/>
        </p:nvCxnSpPr>
        <p:spPr>
          <a:xfrm>
            <a:off x="2743200" y="3538728"/>
            <a:ext cx="0" cy="1261872"/>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3538728"/>
            <a:ext cx="0" cy="1261872"/>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09160" y="2816352"/>
            <a:ext cx="3520440" cy="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09160" y="3310128"/>
            <a:ext cx="3520440" cy="0"/>
          </a:xfrm>
          <a:prstGeom prst="line">
            <a:avLst/>
          </a:prstGeom>
          <a:ln w="26670">
            <a:solidFill>
              <a:srgbClr val="2866BD"/>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709160" y="5285232"/>
            <a:ext cx="3520440" cy="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 y="2551176"/>
            <a:ext cx="3931920" cy="987552"/>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irflow.png"/>
          <p:cNvPicPr>
            <a:picLocks noChangeAspect="1"/>
          </p:cNvPicPr>
          <p:nvPr/>
        </p:nvPicPr>
        <p:blipFill>
          <a:blip r:embed="rId4"/>
          <a:stretch>
            <a:fillRect/>
          </a:stretch>
        </p:blipFill>
        <p:spPr>
          <a:xfrm>
            <a:off x="914400" y="2779776"/>
            <a:ext cx="530352" cy="530352"/>
          </a:xfrm>
          <a:prstGeom prst="rect">
            <a:avLst/>
          </a:prstGeom>
        </p:spPr>
      </p:pic>
      <p:sp>
        <p:nvSpPr>
          <p:cNvPr id="20" name="TextBox 19"/>
          <p:cNvSpPr txBox="1"/>
          <p:nvPr/>
        </p:nvSpPr>
        <p:spPr>
          <a:xfrm>
            <a:off x="1581912" y="2688336"/>
            <a:ext cx="2999232" cy="329184"/>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Airflow DAG</a:t>
            </a:r>
          </a:p>
        </p:txBody>
      </p:sp>
      <p:sp>
        <p:nvSpPr>
          <p:cNvPr id="21" name="TextBox 20"/>
          <p:cNvSpPr txBox="1"/>
          <p:nvPr/>
        </p:nvSpPr>
        <p:spPr>
          <a:xfrm>
            <a:off x="1581912" y="3072384"/>
            <a:ext cx="2999232" cy="402336"/>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Schedule / dependencies / retries</a:t>
            </a:r>
          </a:p>
        </p:txBody>
      </p:sp>
      <p:sp>
        <p:nvSpPr>
          <p:cNvPr id="22" name="Rounded Rectangle 21"/>
          <p:cNvSpPr/>
          <p:nvPr/>
        </p:nvSpPr>
        <p:spPr>
          <a:xfrm>
            <a:off x="777240" y="4800600"/>
            <a:ext cx="3931920" cy="987552"/>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unner.png"/>
          <p:cNvPicPr>
            <a:picLocks noChangeAspect="1"/>
          </p:cNvPicPr>
          <p:nvPr/>
        </p:nvPicPr>
        <p:blipFill>
          <a:blip r:embed="rId2"/>
          <a:stretch>
            <a:fillRect/>
          </a:stretch>
        </p:blipFill>
        <p:spPr>
          <a:xfrm>
            <a:off x="914400" y="5029200"/>
            <a:ext cx="530352" cy="530352"/>
          </a:xfrm>
          <a:prstGeom prst="rect">
            <a:avLst/>
          </a:prstGeom>
        </p:spPr>
      </p:pic>
      <p:sp>
        <p:nvSpPr>
          <p:cNvPr id="24" name="TextBox 23"/>
          <p:cNvSpPr txBox="1"/>
          <p:nvPr/>
        </p:nvSpPr>
        <p:spPr>
          <a:xfrm>
            <a:off x="1581912" y="4937760"/>
            <a:ext cx="2999232" cy="329184"/>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External dbt runner</a:t>
            </a:r>
          </a:p>
        </p:txBody>
      </p:sp>
      <p:sp>
        <p:nvSpPr>
          <p:cNvPr id="25" name="TextBox 24"/>
          <p:cNvSpPr txBox="1"/>
          <p:nvPr/>
        </p:nvSpPr>
        <p:spPr>
          <a:xfrm>
            <a:off x="1581912" y="5321808"/>
            <a:ext cx="2999232" cy="402336"/>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Approved runtime + pinned project</a:t>
            </a:r>
          </a:p>
        </p:txBody>
      </p:sp>
      <p:sp>
        <p:nvSpPr>
          <p:cNvPr id="26" name="Rounded Rectangle 25"/>
          <p:cNvSpPr/>
          <p:nvPr/>
        </p:nvSpPr>
        <p:spPr>
          <a:xfrm>
            <a:off x="8229600" y="2551176"/>
            <a:ext cx="5486400" cy="987552"/>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loud.png"/>
          <p:cNvPicPr>
            <a:picLocks noChangeAspect="1"/>
          </p:cNvPicPr>
          <p:nvPr/>
        </p:nvPicPr>
        <p:blipFill>
          <a:blip r:embed="rId3"/>
          <a:stretch>
            <a:fillRect/>
          </a:stretch>
        </p:blipFill>
        <p:spPr>
          <a:xfrm>
            <a:off x="8366760" y="2779776"/>
            <a:ext cx="530352" cy="530352"/>
          </a:xfrm>
          <a:prstGeom prst="rect">
            <a:avLst/>
          </a:prstGeom>
        </p:spPr>
      </p:pic>
      <p:sp>
        <p:nvSpPr>
          <p:cNvPr id="28" name="TextBox 27"/>
          <p:cNvSpPr txBox="1"/>
          <p:nvPr/>
        </p:nvSpPr>
        <p:spPr>
          <a:xfrm>
            <a:off x="9034272" y="2688336"/>
            <a:ext cx="4553712" cy="329184"/>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Fabric pipeline + job API</a:t>
            </a:r>
          </a:p>
        </p:txBody>
      </p:sp>
      <p:sp>
        <p:nvSpPr>
          <p:cNvPr id="29" name="TextBox 28"/>
          <p:cNvSpPr txBox="1"/>
          <p:nvPr/>
        </p:nvSpPr>
        <p:spPr>
          <a:xfrm>
            <a:off x="9034272" y="3072384"/>
            <a:ext cx="4553712" cy="402336"/>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Ingestion and tracked job execution</a:t>
            </a:r>
          </a:p>
        </p:txBody>
      </p:sp>
      <p:sp>
        <p:nvSpPr>
          <p:cNvPr id="30" name="Rounded Rectangle 29"/>
          <p:cNvSpPr/>
          <p:nvPr/>
        </p:nvSpPr>
        <p:spPr>
          <a:xfrm>
            <a:off x="8229600" y="4800600"/>
            <a:ext cx="5486400" cy="987552"/>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database.png"/>
          <p:cNvPicPr>
            <a:picLocks noChangeAspect="1"/>
          </p:cNvPicPr>
          <p:nvPr/>
        </p:nvPicPr>
        <p:blipFill>
          <a:blip r:embed="rId5"/>
          <a:stretch>
            <a:fillRect/>
          </a:stretch>
        </p:blipFill>
        <p:spPr>
          <a:xfrm>
            <a:off x="8366760" y="5029200"/>
            <a:ext cx="530352" cy="530352"/>
          </a:xfrm>
          <a:prstGeom prst="rect">
            <a:avLst/>
          </a:prstGeom>
        </p:spPr>
      </p:pic>
      <p:sp>
        <p:nvSpPr>
          <p:cNvPr id="32" name="TextBox 31"/>
          <p:cNvSpPr txBox="1"/>
          <p:nvPr/>
        </p:nvSpPr>
        <p:spPr>
          <a:xfrm>
            <a:off x="9034272" y="4937760"/>
            <a:ext cx="4553712" cy="329184"/>
          </a:xfrm>
          <a:prstGeom prst="rect">
            <a:avLst/>
          </a:prstGeom>
          <a:noFill/>
        </p:spPr>
        <p:txBody>
          <a:bodyPr wrap="square" tIns="0" bIns="0" lIns="0" rIns="0">
            <a:spAutoFit/>
          </a:bodyPr>
          <a:lstStyle/>
          <a:p>
            <a:pPr>
              <a:spcBef>
                <a:spcPts val="0"/>
              </a:spcBef>
              <a:spcAft>
                <a:spcPts val="0"/>
              </a:spcAft>
            </a:pPr>
            <a:r>
              <a:rPr sz="1700" b="1">
                <a:solidFill>
                  <a:srgbClr val="16304E"/>
                </a:solidFill>
                <a:latin typeface="Segoe UI"/>
              </a:rPr>
              <a:t>Warehouse OR Lakehouse / Spark</a:t>
            </a:r>
          </a:p>
        </p:txBody>
      </p:sp>
      <p:sp>
        <p:nvSpPr>
          <p:cNvPr id="33" name="TextBox 32"/>
          <p:cNvSpPr txBox="1"/>
          <p:nvPr/>
        </p:nvSpPr>
        <p:spPr>
          <a:xfrm>
            <a:off x="9034272" y="5321808"/>
            <a:ext cx="4553712" cy="402336"/>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Bronze -&gt; dbt-managed Silver / Gold</a:t>
            </a:r>
          </a:p>
        </p:txBody>
      </p:sp>
      <p:sp>
        <p:nvSpPr>
          <p:cNvPr id="34" name="Rectangle 33"/>
          <p:cNvSpPr/>
          <p:nvPr/>
        </p:nvSpPr>
        <p:spPr>
          <a:xfrm>
            <a:off x="5120640" y="2423160"/>
            <a:ext cx="269748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20640" y="2446020"/>
            <a:ext cx="2697480" cy="256032"/>
          </a:xfrm>
          <a:prstGeom prst="rect">
            <a:avLst/>
          </a:prstGeom>
          <a:noFill/>
        </p:spPr>
        <p:txBody>
          <a:bodyPr wrap="square" tIns="0" bIns="0" lIns="0" rIns="0">
            <a:spAutoFit/>
          </a:bodyPr>
          <a:lstStyle/>
          <a:p>
            <a:pPr algn="ctr">
              <a:spcBef>
                <a:spcPts val="0"/>
              </a:spcBef>
              <a:spcAft>
                <a:spcPts val="0"/>
              </a:spcAft>
            </a:pPr>
            <a:r>
              <a:rPr sz="1200" b="1">
                <a:solidFill>
                  <a:srgbClr val="007F83"/>
                </a:solidFill>
                <a:latin typeface="Segoe UI"/>
              </a:rPr>
              <a:t>1  POST: start ingestion</a:t>
            </a:r>
          </a:p>
        </p:txBody>
      </p:sp>
      <p:sp>
        <p:nvSpPr>
          <p:cNvPr id="36" name="Rectangle 35"/>
          <p:cNvSpPr/>
          <p:nvPr/>
        </p:nvSpPr>
        <p:spPr>
          <a:xfrm>
            <a:off x="5120640" y="3547872"/>
            <a:ext cx="269748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20640" y="3570732"/>
            <a:ext cx="2697480" cy="256032"/>
          </a:xfrm>
          <a:prstGeom prst="rect">
            <a:avLst/>
          </a:prstGeom>
          <a:noFill/>
        </p:spPr>
        <p:txBody>
          <a:bodyPr wrap="square" tIns="0" bIns="0" lIns="0" rIns="0">
            <a:spAutoFit/>
          </a:bodyPr>
          <a:lstStyle/>
          <a:p>
            <a:pPr algn="ctr">
              <a:spcBef>
                <a:spcPts val="0"/>
              </a:spcBef>
              <a:spcAft>
                <a:spcPts val="0"/>
              </a:spcAft>
            </a:pPr>
            <a:r>
              <a:rPr sz="1200" b="1">
                <a:solidFill>
                  <a:srgbClr val="2866BD"/>
                </a:solidFill>
                <a:latin typeface="Segoe UI"/>
              </a:rPr>
              <a:t>2  GET: poll job status</a:t>
            </a:r>
          </a:p>
        </p:txBody>
      </p:sp>
      <p:sp>
        <p:nvSpPr>
          <p:cNvPr id="38" name="Rectangle 37"/>
          <p:cNvSpPr/>
          <p:nvPr/>
        </p:nvSpPr>
        <p:spPr>
          <a:xfrm>
            <a:off x="868680" y="3986784"/>
            <a:ext cx="3749039"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4009644"/>
            <a:ext cx="3749039" cy="256032"/>
          </a:xfrm>
          <a:prstGeom prst="rect">
            <a:avLst/>
          </a:prstGeom>
          <a:noFill/>
        </p:spPr>
        <p:txBody>
          <a:bodyPr wrap="square" tIns="0" bIns="0" lIns="0" rIns="0">
            <a:spAutoFit/>
          </a:bodyPr>
          <a:lstStyle/>
          <a:p>
            <a:pPr algn="ctr">
              <a:spcBef>
                <a:spcPts val="0"/>
              </a:spcBef>
              <a:spcAft>
                <a:spcPts val="0"/>
              </a:spcAft>
            </a:pPr>
            <a:r>
              <a:rPr sz="1150" b="1">
                <a:solidFill>
                  <a:srgbClr val="007F83"/>
                </a:solidFill>
                <a:latin typeface="Segoe UI"/>
              </a:rPr>
              <a:t>3  Run dbt after ingestion completes</a:t>
            </a:r>
          </a:p>
        </p:txBody>
      </p:sp>
      <p:sp>
        <p:nvSpPr>
          <p:cNvPr id="40" name="Rectangle 39"/>
          <p:cNvSpPr/>
          <p:nvPr/>
        </p:nvSpPr>
        <p:spPr>
          <a:xfrm>
            <a:off x="9418320" y="3986784"/>
            <a:ext cx="310896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18320" y="4009644"/>
            <a:ext cx="3108960" cy="256032"/>
          </a:xfrm>
          <a:prstGeom prst="rect">
            <a:avLst/>
          </a:prstGeom>
          <a:noFill/>
        </p:spPr>
        <p:txBody>
          <a:bodyPr wrap="square" tIns="0" bIns="0" lIns="0" rIns="0">
            <a:spAutoFit/>
          </a:bodyPr>
          <a:lstStyle/>
          <a:p>
            <a:pPr algn="ctr">
              <a:spcBef>
                <a:spcPts val="0"/>
              </a:spcBef>
              <a:spcAft>
                <a:spcPts val="0"/>
              </a:spcAft>
            </a:pPr>
            <a:r>
              <a:rPr sz="1200" b="1">
                <a:solidFill>
                  <a:srgbClr val="007F83"/>
                </a:solidFill>
                <a:latin typeface="Segoe UI"/>
              </a:rPr>
              <a:t>Copy into Bronze</a:t>
            </a:r>
          </a:p>
        </p:txBody>
      </p:sp>
      <p:sp>
        <p:nvSpPr>
          <p:cNvPr id="42" name="Rectangle 41"/>
          <p:cNvSpPr/>
          <p:nvPr/>
        </p:nvSpPr>
        <p:spPr>
          <a:xfrm>
            <a:off x="5120640" y="4864608"/>
            <a:ext cx="269748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20640" y="4887468"/>
            <a:ext cx="2697480" cy="256032"/>
          </a:xfrm>
          <a:prstGeom prst="rect">
            <a:avLst/>
          </a:prstGeom>
          <a:noFill/>
        </p:spPr>
        <p:txBody>
          <a:bodyPr wrap="square" tIns="0" bIns="0" lIns="0" rIns="0">
            <a:spAutoFit/>
          </a:bodyPr>
          <a:lstStyle/>
          <a:p>
            <a:pPr algn="ctr">
              <a:spcBef>
                <a:spcPts val="0"/>
              </a:spcBef>
              <a:spcAft>
                <a:spcPts val="0"/>
              </a:spcAft>
            </a:pPr>
            <a:r>
              <a:rPr sz="1200" b="1">
                <a:solidFill>
                  <a:srgbClr val="007F83"/>
                </a:solidFill>
                <a:latin typeface="Segoe UI"/>
              </a:rPr>
              <a:t>4  SQL or Spark/Livy</a:t>
            </a:r>
          </a:p>
        </p:txBody>
      </p:sp>
      <p:sp>
        <p:nvSpPr>
          <p:cNvPr id="44" name="TextBox 43"/>
          <p:cNvSpPr txBox="1"/>
          <p:nvPr/>
        </p:nvSpPr>
        <p:spPr>
          <a:xfrm>
            <a:off x="822960" y="6053328"/>
            <a:ext cx="3840480" cy="210312"/>
          </a:xfrm>
          <a:prstGeom prst="rect">
            <a:avLst/>
          </a:prstGeom>
          <a:noFill/>
        </p:spPr>
        <p:txBody>
          <a:bodyPr wrap="square" tIns="0" bIns="0" lIns="0" rIns="0">
            <a:spAutoFit/>
          </a:bodyPr>
          <a:lstStyle/>
          <a:p>
            <a:pPr algn="ctr">
              <a:spcBef>
                <a:spcPts val="0"/>
              </a:spcBef>
              <a:spcAft>
                <a:spcPts val="0"/>
              </a:spcAft>
            </a:pPr>
            <a:r>
              <a:rPr sz="1100" b="0">
                <a:solidFill>
                  <a:srgbClr val="52677D"/>
                </a:solidFill>
                <a:latin typeface="Segoe UI"/>
              </a:rPr>
              <a:t>On premises or a cloud host</a:t>
            </a:r>
          </a:p>
        </p:txBody>
      </p:sp>
      <p:sp>
        <p:nvSpPr>
          <p:cNvPr id="45" name="TextBox 44"/>
          <p:cNvSpPr txBox="1"/>
          <p:nvPr/>
        </p:nvSpPr>
        <p:spPr>
          <a:xfrm>
            <a:off x="8183879" y="6053328"/>
            <a:ext cx="5577840" cy="210312"/>
          </a:xfrm>
          <a:prstGeom prst="rect">
            <a:avLst/>
          </a:prstGeom>
          <a:noFill/>
        </p:spPr>
        <p:txBody>
          <a:bodyPr wrap="square" tIns="0" bIns="0" lIns="0" rIns="0">
            <a:spAutoFit/>
          </a:bodyPr>
          <a:lstStyle/>
          <a:p>
            <a:pPr>
              <a:spcBef>
                <a:spcPts val="0"/>
              </a:spcBef>
              <a:spcAft>
                <a:spcPts val="0"/>
              </a:spcAft>
            </a:pPr>
            <a:r>
              <a:rPr sz="1050" b="0">
                <a:solidFill>
                  <a:srgbClr val="52677D"/>
                </a:solidFill>
                <a:latin typeface="Segoe UI"/>
              </a:rPr>
              <a:t>Solid: submit / execute     Dashed: status request / response</a:t>
            </a:r>
          </a:p>
        </p:txBody>
      </p:sp>
      <p:sp>
        <p:nvSpPr>
          <p:cNvPr id="46" name="Rounded Rectangle 45"/>
          <p:cNvSpPr/>
          <p:nvPr/>
        </p:nvSpPr>
        <p:spPr>
          <a:xfrm>
            <a:off x="548640" y="6629400"/>
            <a:ext cx="13533120" cy="850392"/>
          </a:xfrm>
          <a:prstGeom prst="roundRect">
            <a:avLst>
              <a:gd name="adj" fmla="val 12000"/>
            </a:avLst>
          </a:prstGeom>
          <a:solidFill>
            <a:srgbClr val="EAF4F4"/>
          </a:solidFill>
          <a:ln w="12700">
            <a:solidFill>
              <a:srgbClr val="D7E9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6757416"/>
            <a:ext cx="13075920" cy="292608"/>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Airflow is the workflow owner; Fabric supplies the processing.</a:t>
            </a:r>
          </a:p>
        </p:txBody>
      </p:sp>
      <p:sp>
        <p:nvSpPr>
          <p:cNvPr id="48" name="TextBox 47"/>
          <p:cNvSpPr txBox="1"/>
          <p:nvPr/>
        </p:nvSpPr>
        <p:spPr>
          <a:xfrm>
            <a:off x="777240" y="7159752"/>
            <a:ext cx="13075920" cy="228600"/>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Warehouse: dbt-fabric over SQL  |  Lakehouse: dbt-fabricspark over Spark/Livy  |  Configure Entra identity + network access.</a:t>
            </a:r>
          </a:p>
        </p:txBody>
      </p:sp>
      <p:sp>
        <p:nvSpPr>
          <p:cNvPr id="49" name="TextBox 48"/>
          <p:cNvSpPr txBox="1"/>
          <p:nvPr/>
        </p:nvSpPr>
        <p:spPr>
          <a:xfrm>
            <a:off x="566928" y="7799831"/>
            <a:ext cx="150876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6"/>
              </a:rPr>
              <a:t>Start a Fabric job</a:t>
            </a:r>
          </a:p>
        </p:txBody>
      </p:sp>
      <p:sp>
        <p:nvSpPr>
          <p:cNvPr id="50" name="TextBox 49"/>
          <p:cNvSpPr txBox="1"/>
          <p:nvPr/>
        </p:nvSpPr>
        <p:spPr>
          <a:xfrm>
            <a:off x="2304288" y="7799831"/>
            <a:ext cx="150876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7"/>
              </a:rPr>
              <a:t>Monitor its status</a:t>
            </a:r>
          </a:p>
        </p:txBody>
      </p:sp>
      <p:sp>
        <p:nvSpPr>
          <p:cNvPr id="51" name="TextBox 50"/>
          <p:cNvSpPr txBox="1"/>
          <p:nvPr/>
        </p:nvSpPr>
        <p:spPr>
          <a:xfrm>
            <a:off x="4041648" y="7799831"/>
            <a:ext cx="164592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8"/>
              </a:rPr>
              <a:t>Warehouse adapter</a:t>
            </a:r>
          </a:p>
        </p:txBody>
      </p:sp>
      <p:sp>
        <p:nvSpPr>
          <p:cNvPr id="52" name="TextBox 51"/>
          <p:cNvSpPr txBox="1"/>
          <p:nvPr/>
        </p:nvSpPr>
        <p:spPr>
          <a:xfrm>
            <a:off x="5916168" y="7799831"/>
            <a:ext cx="164592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9"/>
              </a:rPr>
              <a:t>Lakehouse adapter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7F83"/>
          </a:solidFill>
          <a:ln w="12700">
            <a:solidFill>
              <a:srgbClr val="00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2801600" cy="256032"/>
          </a:xfrm>
          <a:prstGeom prst="rect">
            <a:avLst/>
          </a:prstGeom>
          <a:noFill/>
        </p:spPr>
        <p:txBody>
          <a:bodyPr wrap="square" tIns="0" bIns="0" lIns="0" rIns="0">
            <a:spAutoFit/>
          </a:bodyPr>
          <a:lstStyle/>
          <a:p>
            <a:pPr>
              <a:spcBef>
                <a:spcPts val="0"/>
              </a:spcBef>
              <a:spcAft>
                <a:spcPts val="0"/>
              </a:spcAft>
            </a:pPr>
            <a:r>
              <a:rPr sz="1100" b="1">
                <a:solidFill>
                  <a:srgbClr val="007F83"/>
                </a:solidFill>
                <a:latin typeface="Segoe UI"/>
              </a:rPr>
              <a:t>FABRIC  /  EXTERNAL ORCHESTRATION</a:t>
            </a:r>
          </a:p>
        </p:txBody>
      </p:sp>
      <p:sp>
        <p:nvSpPr>
          <p:cNvPr id="4" name="TextBox 3"/>
          <p:cNvSpPr txBox="1"/>
          <p:nvPr/>
        </p:nvSpPr>
        <p:spPr>
          <a:xfrm>
            <a:off x="548640" y="777240"/>
            <a:ext cx="13533120" cy="566928"/>
          </a:xfrm>
          <a:prstGeom prst="rect">
            <a:avLst/>
          </a:prstGeom>
          <a:noFill/>
        </p:spPr>
        <p:txBody>
          <a:bodyPr wrap="square" tIns="0" bIns="0" lIns="0" rIns="0">
            <a:spAutoFit/>
          </a:bodyPr>
          <a:lstStyle/>
          <a:p>
            <a:pPr>
              <a:spcBef>
                <a:spcPts val="0"/>
              </a:spcBef>
              <a:spcAft>
                <a:spcPts val="0"/>
              </a:spcAft>
            </a:pPr>
            <a:r>
              <a:rPr sz="3100" b="1">
                <a:solidFill>
                  <a:srgbClr val="16304E"/>
                </a:solidFill>
                <a:latin typeface="Segoe UI"/>
              </a:rPr>
              <a:t>Fabric pipelines orchestrate external dbt</a:t>
            </a:r>
          </a:p>
        </p:txBody>
      </p:sp>
      <p:sp>
        <p:nvSpPr>
          <p:cNvPr id="5" name="TextBox 4"/>
          <p:cNvSpPr txBox="1"/>
          <p:nvPr/>
        </p:nvSpPr>
        <p:spPr>
          <a:xfrm>
            <a:off x="566928" y="1389888"/>
            <a:ext cx="13350240" cy="320040"/>
          </a:xfrm>
          <a:prstGeom prst="rect">
            <a:avLst/>
          </a:prstGeom>
          <a:noFill/>
        </p:spPr>
        <p:txBody>
          <a:bodyPr wrap="square" tIns="0" bIns="0" lIns="0" rIns="0">
            <a:spAutoFit/>
          </a:bodyPr>
          <a:lstStyle/>
          <a:p>
            <a:pPr>
              <a:spcBef>
                <a:spcPts val="0"/>
              </a:spcBef>
              <a:spcAft>
                <a:spcPts val="0"/>
              </a:spcAft>
            </a:pPr>
            <a:r>
              <a:rPr sz="1600" b="0">
                <a:solidFill>
                  <a:srgbClr val="52677D"/>
                </a:solidFill>
                <a:latin typeface="Segoe UI"/>
              </a:rPr>
              <a:t>Fabric owns the schedule; an authenticated job service launches the external runtime.</a:t>
            </a:r>
          </a:p>
        </p:txBody>
      </p:sp>
      <p:sp>
        <p:nvSpPr>
          <p:cNvPr id="6" name="TextBox 5"/>
          <p:cNvSpPr txBox="1"/>
          <p:nvPr/>
        </p:nvSpPr>
        <p:spPr>
          <a:xfrm>
            <a:off x="13395960" y="7799831"/>
            <a:ext cx="685800" cy="201168"/>
          </a:xfrm>
          <a:prstGeom prst="rect">
            <a:avLst/>
          </a:prstGeom>
          <a:noFill/>
        </p:spPr>
        <p:txBody>
          <a:bodyPr wrap="square" tIns="0" bIns="0" lIns="0" rIns="0">
            <a:spAutoFit/>
          </a:bodyPr>
          <a:lstStyle/>
          <a:p>
            <a:pPr algn="r">
              <a:spcBef>
                <a:spcPts val="0"/>
              </a:spcBef>
              <a:spcAft>
                <a:spcPts val="0"/>
              </a:spcAft>
            </a:pPr>
            <a:r>
              <a:rPr sz="1000" b="0">
                <a:solidFill>
                  <a:srgbClr val="52677D"/>
                </a:solidFill>
                <a:latin typeface="Segoe UI"/>
              </a:rPr>
              <a:t>2 / 2</a:t>
            </a:r>
          </a:p>
        </p:txBody>
      </p:sp>
      <p:sp>
        <p:nvSpPr>
          <p:cNvPr id="7" name="Rounded Rectangle 6"/>
          <p:cNvSpPr/>
          <p:nvPr/>
        </p:nvSpPr>
        <p:spPr>
          <a:xfrm>
            <a:off x="457200" y="1856231"/>
            <a:ext cx="7132320" cy="4553712"/>
          </a:xfrm>
          <a:prstGeom prst="roundRect">
            <a:avLst>
              <a:gd name="adj" fmla="val 12000"/>
            </a:avLst>
          </a:prstGeom>
          <a:solidFill>
            <a:srgbClr val="F2F6FA"/>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oud.png"/>
          <p:cNvPicPr>
            <a:picLocks noChangeAspect="1"/>
          </p:cNvPicPr>
          <p:nvPr/>
        </p:nvPicPr>
        <p:blipFill>
          <a:blip r:embed="rId2"/>
          <a:stretch>
            <a:fillRect/>
          </a:stretch>
        </p:blipFill>
        <p:spPr>
          <a:xfrm>
            <a:off x="658368" y="2029968"/>
            <a:ext cx="329184" cy="329184"/>
          </a:xfrm>
          <a:prstGeom prst="rect">
            <a:avLst/>
          </a:prstGeom>
        </p:spPr>
      </p:pic>
      <p:sp>
        <p:nvSpPr>
          <p:cNvPr id="9" name="TextBox 8"/>
          <p:cNvSpPr txBox="1"/>
          <p:nvPr/>
        </p:nvSpPr>
        <p:spPr>
          <a:xfrm>
            <a:off x="1124712" y="2066543"/>
            <a:ext cx="6263640" cy="274320"/>
          </a:xfrm>
          <a:prstGeom prst="rect">
            <a:avLst/>
          </a:prstGeom>
          <a:noFill/>
        </p:spPr>
        <p:txBody>
          <a:bodyPr wrap="square" tIns="0" bIns="0" lIns="0" rIns="0">
            <a:spAutoFit/>
          </a:bodyPr>
          <a:lstStyle/>
          <a:p>
            <a:pPr>
              <a:spcBef>
                <a:spcPts val="0"/>
              </a:spcBef>
              <a:spcAft>
                <a:spcPts val="0"/>
              </a:spcAft>
            </a:pPr>
            <a:r>
              <a:rPr sz="1200" b="1">
                <a:solidFill>
                  <a:srgbClr val="52677D"/>
                </a:solidFill>
                <a:latin typeface="Segoe UI"/>
              </a:rPr>
              <a:t>MICROSOFT FABRIC</a:t>
            </a:r>
          </a:p>
        </p:txBody>
      </p:sp>
      <p:sp>
        <p:nvSpPr>
          <p:cNvPr id="10" name="Rounded Rectangle 9"/>
          <p:cNvSpPr/>
          <p:nvPr/>
        </p:nvSpPr>
        <p:spPr>
          <a:xfrm>
            <a:off x="9235440" y="1856231"/>
            <a:ext cx="4937760" cy="4553712"/>
          </a:xfrm>
          <a:prstGeom prst="roundRect">
            <a:avLst>
              <a:gd name="adj" fmla="val 12000"/>
            </a:avLst>
          </a:prstGeom>
          <a:solidFill>
            <a:srgbClr val="F2F6FA"/>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unner.png"/>
          <p:cNvPicPr>
            <a:picLocks noChangeAspect="1"/>
          </p:cNvPicPr>
          <p:nvPr/>
        </p:nvPicPr>
        <p:blipFill>
          <a:blip r:embed="rId3"/>
          <a:stretch>
            <a:fillRect/>
          </a:stretch>
        </p:blipFill>
        <p:spPr>
          <a:xfrm>
            <a:off x="9436608" y="2029968"/>
            <a:ext cx="329184" cy="329184"/>
          </a:xfrm>
          <a:prstGeom prst="rect">
            <a:avLst/>
          </a:prstGeom>
        </p:spPr>
      </p:pic>
      <p:sp>
        <p:nvSpPr>
          <p:cNvPr id="12" name="TextBox 11"/>
          <p:cNvSpPr txBox="1"/>
          <p:nvPr/>
        </p:nvSpPr>
        <p:spPr>
          <a:xfrm>
            <a:off x="9902952" y="2066543"/>
            <a:ext cx="4069080" cy="274320"/>
          </a:xfrm>
          <a:prstGeom prst="rect">
            <a:avLst/>
          </a:prstGeom>
          <a:noFill/>
        </p:spPr>
        <p:txBody>
          <a:bodyPr wrap="square" tIns="0" bIns="0" lIns="0" rIns="0">
            <a:spAutoFit/>
          </a:bodyPr>
          <a:lstStyle/>
          <a:p>
            <a:pPr>
              <a:spcBef>
                <a:spcPts val="0"/>
              </a:spcBef>
              <a:spcAft>
                <a:spcPts val="0"/>
              </a:spcAft>
            </a:pPr>
            <a:r>
              <a:rPr sz="1200" b="1">
                <a:solidFill>
                  <a:srgbClr val="52677D"/>
                </a:solidFill>
                <a:latin typeface="Segoe UI"/>
              </a:rPr>
              <a:t>CUSTOMER-MANAGED HOST</a:t>
            </a:r>
          </a:p>
        </p:txBody>
      </p:sp>
      <p:cxnSp>
        <p:nvCxnSpPr>
          <p:cNvPr id="13" name="Connector 12"/>
          <p:cNvCxnSpPr/>
          <p:nvPr/>
        </p:nvCxnSpPr>
        <p:spPr>
          <a:xfrm>
            <a:off x="3474720" y="3008376"/>
            <a:ext cx="731520" cy="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03120" y="3520440"/>
            <a:ext cx="0" cy="132588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623560" y="3520440"/>
            <a:ext cx="0" cy="41148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23560" y="4892040"/>
            <a:ext cx="0" cy="41148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040880" y="2834640"/>
            <a:ext cx="2651760" cy="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704320" y="3520440"/>
            <a:ext cx="0" cy="1325880"/>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040880" y="4407408"/>
            <a:ext cx="1371600" cy="0"/>
          </a:xfrm>
          <a:prstGeom prst="line">
            <a:avLst/>
          </a:prstGeom>
          <a:ln w="26670">
            <a:solidFill>
              <a:srgbClr val="2866BD"/>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412480" y="3310128"/>
            <a:ext cx="0" cy="1097280"/>
          </a:xfrm>
          <a:prstGeom prst="line">
            <a:avLst/>
          </a:prstGeom>
          <a:ln w="26670">
            <a:solidFill>
              <a:srgbClr val="2866BD"/>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412480" y="3310128"/>
            <a:ext cx="1280160" cy="0"/>
          </a:xfrm>
          <a:prstGeom prst="line">
            <a:avLst/>
          </a:prstGeom>
          <a:ln w="26670">
            <a:solidFill>
              <a:srgbClr val="2866BD"/>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704320" y="5806440"/>
            <a:ext cx="0" cy="338328"/>
          </a:xfrm>
          <a:prstGeom prst="line">
            <a:avLst/>
          </a:prstGeom>
          <a:ln w="26670">
            <a:solidFill>
              <a:srgbClr val="007F8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103120" y="6144768"/>
            <a:ext cx="9601200" cy="0"/>
          </a:xfrm>
          <a:prstGeom prst="line">
            <a:avLst/>
          </a:prstGeom>
          <a:ln w="26670">
            <a:solidFill>
              <a:srgbClr val="007F8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103120" y="5806440"/>
            <a:ext cx="0" cy="338328"/>
          </a:xfrm>
          <a:prstGeom prst="line">
            <a:avLst/>
          </a:prstGeom>
          <a:ln w="26670">
            <a:solidFill>
              <a:srgbClr val="007F83"/>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1520" y="2560320"/>
            <a:ext cx="2743200" cy="960120"/>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py.png"/>
          <p:cNvPicPr>
            <a:picLocks noChangeAspect="1"/>
          </p:cNvPicPr>
          <p:nvPr/>
        </p:nvPicPr>
        <p:blipFill>
          <a:blip r:embed="rId4"/>
          <a:stretch>
            <a:fillRect/>
          </a:stretch>
        </p:blipFill>
        <p:spPr>
          <a:xfrm>
            <a:off x="868680" y="2775203"/>
            <a:ext cx="530352" cy="530352"/>
          </a:xfrm>
          <a:prstGeom prst="rect">
            <a:avLst/>
          </a:prstGeom>
        </p:spPr>
      </p:pic>
      <p:sp>
        <p:nvSpPr>
          <p:cNvPr id="27" name="TextBox 26"/>
          <p:cNvSpPr txBox="1"/>
          <p:nvPr/>
        </p:nvSpPr>
        <p:spPr>
          <a:xfrm>
            <a:off x="1536192" y="2697479"/>
            <a:ext cx="1810512" cy="329184"/>
          </a:xfrm>
          <a:prstGeom prst="rect">
            <a:avLst/>
          </a:prstGeom>
          <a:noFill/>
        </p:spPr>
        <p:txBody>
          <a:bodyPr wrap="square" tIns="0" bIns="0" lIns="0" rIns="0">
            <a:spAutoFit/>
          </a:bodyPr>
          <a:lstStyle/>
          <a:p>
            <a:pPr>
              <a:spcBef>
                <a:spcPts val="0"/>
              </a:spcBef>
              <a:spcAft>
                <a:spcPts val="0"/>
              </a:spcAft>
            </a:pPr>
            <a:r>
              <a:rPr sz="1700" b="1">
                <a:solidFill>
                  <a:srgbClr val="16304E"/>
                </a:solidFill>
                <a:latin typeface="Segoe UI"/>
              </a:rPr>
              <a:t>Copy activity</a:t>
            </a:r>
          </a:p>
        </p:txBody>
      </p:sp>
      <p:sp>
        <p:nvSpPr>
          <p:cNvPr id="28" name="TextBox 27"/>
          <p:cNvSpPr txBox="1"/>
          <p:nvPr/>
        </p:nvSpPr>
        <p:spPr>
          <a:xfrm>
            <a:off x="1536192" y="3081527"/>
            <a:ext cx="1810512" cy="374904"/>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Load Bronze</a:t>
            </a:r>
          </a:p>
        </p:txBody>
      </p:sp>
      <p:sp>
        <p:nvSpPr>
          <p:cNvPr id="29" name="Rounded Rectangle 28"/>
          <p:cNvSpPr/>
          <p:nvPr/>
        </p:nvSpPr>
        <p:spPr>
          <a:xfrm>
            <a:off x="4206240" y="2560320"/>
            <a:ext cx="2834640" cy="960120"/>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pi.png"/>
          <p:cNvPicPr>
            <a:picLocks noChangeAspect="1"/>
          </p:cNvPicPr>
          <p:nvPr/>
        </p:nvPicPr>
        <p:blipFill>
          <a:blip r:embed="rId5"/>
          <a:stretch>
            <a:fillRect/>
          </a:stretch>
        </p:blipFill>
        <p:spPr>
          <a:xfrm>
            <a:off x="4343400" y="2775203"/>
            <a:ext cx="530352" cy="530352"/>
          </a:xfrm>
          <a:prstGeom prst="rect">
            <a:avLst/>
          </a:prstGeom>
        </p:spPr>
      </p:pic>
      <p:sp>
        <p:nvSpPr>
          <p:cNvPr id="31" name="TextBox 30"/>
          <p:cNvSpPr txBox="1"/>
          <p:nvPr/>
        </p:nvSpPr>
        <p:spPr>
          <a:xfrm>
            <a:off x="5010912" y="2697479"/>
            <a:ext cx="1901952" cy="329184"/>
          </a:xfrm>
          <a:prstGeom prst="rect">
            <a:avLst/>
          </a:prstGeom>
          <a:noFill/>
        </p:spPr>
        <p:txBody>
          <a:bodyPr wrap="square" tIns="0" bIns="0" lIns="0" rIns="0">
            <a:spAutoFit/>
          </a:bodyPr>
          <a:lstStyle/>
          <a:p>
            <a:pPr>
              <a:spcBef>
                <a:spcPts val="0"/>
              </a:spcBef>
              <a:spcAft>
                <a:spcPts val="0"/>
              </a:spcAft>
            </a:pPr>
            <a:r>
              <a:rPr sz="1700" b="1">
                <a:solidFill>
                  <a:srgbClr val="16304E"/>
                </a:solidFill>
                <a:latin typeface="Segoe UI"/>
              </a:rPr>
              <a:t>Web activity</a:t>
            </a:r>
          </a:p>
        </p:txBody>
      </p:sp>
      <p:sp>
        <p:nvSpPr>
          <p:cNvPr id="32" name="TextBox 31"/>
          <p:cNvSpPr txBox="1"/>
          <p:nvPr/>
        </p:nvSpPr>
        <p:spPr>
          <a:xfrm>
            <a:off x="5010912" y="3081527"/>
            <a:ext cx="1901952" cy="374904"/>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POST: start dbt</a:t>
            </a:r>
          </a:p>
        </p:txBody>
      </p:sp>
      <p:sp>
        <p:nvSpPr>
          <p:cNvPr id="33" name="Rounded Rectangle 32"/>
          <p:cNvSpPr/>
          <p:nvPr/>
        </p:nvSpPr>
        <p:spPr>
          <a:xfrm>
            <a:off x="4206240" y="3931920"/>
            <a:ext cx="2834640" cy="960120"/>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lock.png"/>
          <p:cNvPicPr>
            <a:picLocks noChangeAspect="1"/>
          </p:cNvPicPr>
          <p:nvPr/>
        </p:nvPicPr>
        <p:blipFill>
          <a:blip r:embed="rId6"/>
          <a:stretch>
            <a:fillRect/>
          </a:stretch>
        </p:blipFill>
        <p:spPr>
          <a:xfrm>
            <a:off x="4343400" y="4146804"/>
            <a:ext cx="530352" cy="530352"/>
          </a:xfrm>
          <a:prstGeom prst="rect">
            <a:avLst/>
          </a:prstGeom>
        </p:spPr>
      </p:pic>
      <p:sp>
        <p:nvSpPr>
          <p:cNvPr id="35" name="TextBox 34"/>
          <p:cNvSpPr txBox="1"/>
          <p:nvPr/>
        </p:nvSpPr>
        <p:spPr>
          <a:xfrm>
            <a:off x="5010912" y="4069080"/>
            <a:ext cx="1901952" cy="329184"/>
          </a:xfrm>
          <a:prstGeom prst="rect">
            <a:avLst/>
          </a:prstGeom>
          <a:noFill/>
        </p:spPr>
        <p:txBody>
          <a:bodyPr wrap="square" tIns="0" bIns="0" lIns="0" rIns="0">
            <a:spAutoFit/>
          </a:bodyPr>
          <a:lstStyle/>
          <a:p>
            <a:pPr>
              <a:spcBef>
                <a:spcPts val="0"/>
              </a:spcBef>
              <a:spcAft>
                <a:spcPts val="0"/>
              </a:spcAft>
            </a:pPr>
            <a:r>
              <a:rPr sz="1550" b="1">
                <a:solidFill>
                  <a:srgbClr val="16304E"/>
                </a:solidFill>
                <a:latin typeface="Segoe UI"/>
              </a:rPr>
              <a:t>Until + Web GET</a:t>
            </a:r>
          </a:p>
        </p:txBody>
      </p:sp>
      <p:sp>
        <p:nvSpPr>
          <p:cNvPr id="36" name="TextBox 35"/>
          <p:cNvSpPr txBox="1"/>
          <p:nvPr/>
        </p:nvSpPr>
        <p:spPr>
          <a:xfrm>
            <a:off x="5010912" y="4453128"/>
            <a:ext cx="1901952" cy="374904"/>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Poll external job ID</a:t>
            </a:r>
          </a:p>
        </p:txBody>
      </p:sp>
      <p:sp>
        <p:nvSpPr>
          <p:cNvPr id="37" name="Rounded Rectangle 36"/>
          <p:cNvSpPr/>
          <p:nvPr/>
        </p:nvSpPr>
        <p:spPr>
          <a:xfrm>
            <a:off x="4206240" y="5303520"/>
            <a:ext cx="2834640" cy="694944"/>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gate.png"/>
          <p:cNvPicPr>
            <a:picLocks noChangeAspect="1"/>
          </p:cNvPicPr>
          <p:nvPr/>
        </p:nvPicPr>
        <p:blipFill>
          <a:blip r:embed="rId7"/>
          <a:stretch>
            <a:fillRect/>
          </a:stretch>
        </p:blipFill>
        <p:spPr>
          <a:xfrm>
            <a:off x="4343400" y="5385816"/>
            <a:ext cx="530352" cy="530352"/>
          </a:xfrm>
          <a:prstGeom prst="rect">
            <a:avLst/>
          </a:prstGeom>
        </p:spPr>
      </p:pic>
      <p:sp>
        <p:nvSpPr>
          <p:cNvPr id="39" name="TextBox 38"/>
          <p:cNvSpPr txBox="1"/>
          <p:nvPr/>
        </p:nvSpPr>
        <p:spPr>
          <a:xfrm>
            <a:off x="5010912" y="5440680"/>
            <a:ext cx="1901952" cy="329184"/>
          </a:xfrm>
          <a:prstGeom prst="rect">
            <a:avLst/>
          </a:prstGeom>
          <a:noFill/>
        </p:spPr>
        <p:txBody>
          <a:bodyPr wrap="square" tIns="0" bIns="0" lIns="0" rIns="0">
            <a:spAutoFit/>
          </a:bodyPr>
          <a:lstStyle/>
          <a:p>
            <a:pPr>
              <a:spcBef>
                <a:spcPts val="0"/>
              </a:spcBef>
              <a:spcAft>
                <a:spcPts val="0"/>
              </a:spcAft>
            </a:pPr>
            <a:r>
              <a:rPr sz="1500" b="1">
                <a:solidFill>
                  <a:srgbClr val="16304E"/>
                </a:solidFill>
                <a:latin typeface="Segoe UI"/>
              </a:rPr>
              <a:t>4  Success gate</a:t>
            </a:r>
          </a:p>
        </p:txBody>
      </p:sp>
      <p:sp>
        <p:nvSpPr>
          <p:cNvPr id="40" name="TextBox 39"/>
          <p:cNvSpPr txBox="1"/>
          <p:nvPr/>
        </p:nvSpPr>
        <p:spPr>
          <a:xfrm>
            <a:off x="5010912" y="5824728"/>
            <a:ext cx="1901952" cy="274320"/>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Continue or fail</a:t>
            </a:r>
          </a:p>
        </p:txBody>
      </p:sp>
      <p:sp>
        <p:nvSpPr>
          <p:cNvPr id="41" name="Rounded Rectangle 40"/>
          <p:cNvSpPr/>
          <p:nvPr/>
        </p:nvSpPr>
        <p:spPr>
          <a:xfrm>
            <a:off x="731520" y="4846320"/>
            <a:ext cx="2743200" cy="960120"/>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database.png"/>
          <p:cNvPicPr>
            <a:picLocks noChangeAspect="1"/>
          </p:cNvPicPr>
          <p:nvPr/>
        </p:nvPicPr>
        <p:blipFill>
          <a:blip r:embed="rId8"/>
          <a:stretch>
            <a:fillRect/>
          </a:stretch>
        </p:blipFill>
        <p:spPr>
          <a:xfrm>
            <a:off x="868680" y="5061204"/>
            <a:ext cx="530352" cy="530352"/>
          </a:xfrm>
          <a:prstGeom prst="rect">
            <a:avLst/>
          </a:prstGeom>
        </p:spPr>
      </p:pic>
      <p:sp>
        <p:nvSpPr>
          <p:cNvPr id="43" name="TextBox 42"/>
          <p:cNvSpPr txBox="1"/>
          <p:nvPr/>
        </p:nvSpPr>
        <p:spPr>
          <a:xfrm>
            <a:off x="1536192" y="4983480"/>
            <a:ext cx="1810512" cy="329184"/>
          </a:xfrm>
          <a:prstGeom prst="rect">
            <a:avLst/>
          </a:prstGeom>
          <a:noFill/>
        </p:spPr>
        <p:txBody>
          <a:bodyPr wrap="square" tIns="0" bIns="0" lIns="0" rIns="0">
            <a:spAutoFit/>
          </a:bodyPr>
          <a:lstStyle/>
          <a:p>
            <a:pPr>
              <a:spcBef>
                <a:spcPts val="0"/>
              </a:spcBef>
              <a:spcAft>
                <a:spcPts val="0"/>
              </a:spcAft>
            </a:pPr>
            <a:r>
              <a:rPr sz="1600" b="1">
                <a:solidFill>
                  <a:srgbClr val="16304E"/>
                </a:solidFill>
                <a:latin typeface="Segoe UI"/>
              </a:rPr>
              <a:t>Fabric target</a:t>
            </a:r>
          </a:p>
        </p:txBody>
      </p:sp>
      <p:sp>
        <p:nvSpPr>
          <p:cNvPr id="44" name="TextBox 43"/>
          <p:cNvSpPr txBox="1"/>
          <p:nvPr/>
        </p:nvSpPr>
        <p:spPr>
          <a:xfrm>
            <a:off x="1536192" y="5367528"/>
            <a:ext cx="1810512" cy="374904"/>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Warehouse OR Spark</a:t>
            </a:r>
          </a:p>
        </p:txBody>
      </p:sp>
      <p:sp>
        <p:nvSpPr>
          <p:cNvPr id="45" name="Rounded Rectangle 44"/>
          <p:cNvSpPr/>
          <p:nvPr/>
        </p:nvSpPr>
        <p:spPr>
          <a:xfrm>
            <a:off x="9692640" y="2560320"/>
            <a:ext cx="4023360" cy="960120"/>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api.png"/>
          <p:cNvPicPr>
            <a:picLocks noChangeAspect="1"/>
          </p:cNvPicPr>
          <p:nvPr/>
        </p:nvPicPr>
        <p:blipFill>
          <a:blip r:embed="rId5"/>
          <a:stretch>
            <a:fillRect/>
          </a:stretch>
        </p:blipFill>
        <p:spPr>
          <a:xfrm>
            <a:off x="9829800" y="2775203"/>
            <a:ext cx="530352" cy="530352"/>
          </a:xfrm>
          <a:prstGeom prst="rect">
            <a:avLst/>
          </a:prstGeom>
        </p:spPr>
      </p:pic>
      <p:sp>
        <p:nvSpPr>
          <p:cNvPr id="47" name="TextBox 46"/>
          <p:cNvSpPr txBox="1"/>
          <p:nvPr/>
        </p:nvSpPr>
        <p:spPr>
          <a:xfrm>
            <a:off x="10497312" y="2697479"/>
            <a:ext cx="3090672" cy="329184"/>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Job service API</a:t>
            </a:r>
          </a:p>
        </p:txBody>
      </p:sp>
      <p:sp>
        <p:nvSpPr>
          <p:cNvPr id="48" name="TextBox 47"/>
          <p:cNvSpPr txBox="1"/>
          <p:nvPr/>
        </p:nvSpPr>
        <p:spPr>
          <a:xfrm>
            <a:off x="10497312" y="3081527"/>
            <a:ext cx="3090672" cy="374904"/>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Start / status / authentication</a:t>
            </a:r>
          </a:p>
        </p:txBody>
      </p:sp>
      <p:sp>
        <p:nvSpPr>
          <p:cNvPr id="49" name="Rounded Rectangle 48"/>
          <p:cNvSpPr/>
          <p:nvPr/>
        </p:nvSpPr>
        <p:spPr>
          <a:xfrm>
            <a:off x="9692640" y="4846320"/>
            <a:ext cx="4023360" cy="960120"/>
          </a:xfrm>
          <a:prstGeom prst="roundRect">
            <a:avLst>
              <a:gd name="adj" fmla="val 12000"/>
            </a:avLst>
          </a:prstGeom>
          <a:solidFill>
            <a:srgbClr val="FFFFFF"/>
          </a:solidFill>
          <a:ln w="1270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runner.png"/>
          <p:cNvPicPr>
            <a:picLocks noChangeAspect="1"/>
          </p:cNvPicPr>
          <p:nvPr/>
        </p:nvPicPr>
        <p:blipFill>
          <a:blip r:embed="rId3"/>
          <a:stretch>
            <a:fillRect/>
          </a:stretch>
        </p:blipFill>
        <p:spPr>
          <a:xfrm>
            <a:off x="9829800" y="5061204"/>
            <a:ext cx="530352" cy="530352"/>
          </a:xfrm>
          <a:prstGeom prst="rect">
            <a:avLst/>
          </a:prstGeom>
        </p:spPr>
      </p:pic>
      <p:sp>
        <p:nvSpPr>
          <p:cNvPr id="51" name="TextBox 50"/>
          <p:cNvSpPr txBox="1"/>
          <p:nvPr/>
        </p:nvSpPr>
        <p:spPr>
          <a:xfrm>
            <a:off x="10497312" y="4983480"/>
            <a:ext cx="3090672" cy="329184"/>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External dbt runner</a:t>
            </a:r>
          </a:p>
        </p:txBody>
      </p:sp>
      <p:sp>
        <p:nvSpPr>
          <p:cNvPr id="52" name="TextBox 51"/>
          <p:cNvSpPr txBox="1"/>
          <p:nvPr/>
        </p:nvSpPr>
        <p:spPr>
          <a:xfrm>
            <a:off x="10497312" y="5367528"/>
            <a:ext cx="3090672" cy="374904"/>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dbt Core + appropriate adapter</a:t>
            </a:r>
          </a:p>
        </p:txBody>
      </p:sp>
      <p:sp>
        <p:nvSpPr>
          <p:cNvPr id="53" name="Rectangle 52"/>
          <p:cNvSpPr/>
          <p:nvPr/>
        </p:nvSpPr>
        <p:spPr>
          <a:xfrm>
            <a:off x="7333488" y="2468880"/>
            <a:ext cx="2048256"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33488" y="2491740"/>
            <a:ext cx="2048256" cy="256032"/>
          </a:xfrm>
          <a:prstGeom prst="rect">
            <a:avLst/>
          </a:prstGeom>
          <a:noFill/>
        </p:spPr>
        <p:txBody>
          <a:bodyPr wrap="square" tIns="0" bIns="0" lIns="0" rIns="0">
            <a:spAutoFit/>
          </a:bodyPr>
          <a:lstStyle/>
          <a:p>
            <a:pPr algn="ctr">
              <a:spcBef>
                <a:spcPts val="0"/>
              </a:spcBef>
              <a:spcAft>
                <a:spcPts val="0"/>
              </a:spcAft>
            </a:pPr>
            <a:r>
              <a:rPr sz="1200" b="1">
                <a:solidFill>
                  <a:srgbClr val="007F83"/>
                </a:solidFill>
                <a:latin typeface="Segoe UI"/>
              </a:rPr>
              <a:t>1  Submit</a:t>
            </a:r>
          </a:p>
        </p:txBody>
      </p:sp>
      <p:sp>
        <p:nvSpPr>
          <p:cNvPr id="55" name="Rectangle 54"/>
          <p:cNvSpPr/>
          <p:nvPr/>
        </p:nvSpPr>
        <p:spPr>
          <a:xfrm>
            <a:off x="7196328" y="4572000"/>
            <a:ext cx="201168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96328" y="4594860"/>
            <a:ext cx="2011680" cy="256032"/>
          </a:xfrm>
          <a:prstGeom prst="rect">
            <a:avLst/>
          </a:prstGeom>
          <a:noFill/>
        </p:spPr>
        <p:txBody>
          <a:bodyPr wrap="square" tIns="0" bIns="0" lIns="0" rIns="0">
            <a:spAutoFit/>
          </a:bodyPr>
          <a:lstStyle/>
          <a:p>
            <a:pPr algn="ctr">
              <a:spcBef>
                <a:spcPts val="0"/>
              </a:spcBef>
              <a:spcAft>
                <a:spcPts val="0"/>
              </a:spcAft>
            </a:pPr>
            <a:r>
              <a:rPr sz="1200" b="1">
                <a:solidFill>
                  <a:srgbClr val="2866BD"/>
                </a:solidFill>
                <a:latin typeface="Segoe UI"/>
              </a:rPr>
              <a:t>2  GET status</a:t>
            </a:r>
          </a:p>
        </p:txBody>
      </p:sp>
      <p:sp>
        <p:nvSpPr>
          <p:cNvPr id="57" name="Rectangle 56"/>
          <p:cNvSpPr/>
          <p:nvPr/>
        </p:nvSpPr>
        <p:spPr>
          <a:xfrm>
            <a:off x="9829800" y="4023360"/>
            <a:ext cx="3749039"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29800" y="4046220"/>
            <a:ext cx="3749039" cy="256032"/>
          </a:xfrm>
          <a:prstGeom prst="rect">
            <a:avLst/>
          </a:prstGeom>
          <a:noFill/>
        </p:spPr>
        <p:txBody>
          <a:bodyPr wrap="square" tIns="0" bIns="0" lIns="0" rIns="0">
            <a:spAutoFit/>
          </a:bodyPr>
          <a:lstStyle/>
          <a:p>
            <a:pPr algn="ctr">
              <a:spcBef>
                <a:spcPts val="0"/>
              </a:spcBef>
              <a:spcAft>
                <a:spcPts val="0"/>
              </a:spcAft>
            </a:pPr>
            <a:r>
              <a:rPr sz="1200" b="1">
                <a:solidFill>
                  <a:srgbClr val="007F83"/>
                </a:solidFill>
                <a:latin typeface="Segoe UI"/>
              </a:rPr>
              <a:t>Durable job dispatch</a:t>
            </a:r>
          </a:p>
        </p:txBody>
      </p:sp>
      <p:sp>
        <p:nvSpPr>
          <p:cNvPr id="59" name="Rectangle 58"/>
          <p:cNvSpPr/>
          <p:nvPr/>
        </p:nvSpPr>
        <p:spPr>
          <a:xfrm>
            <a:off x="1143000" y="4069080"/>
            <a:ext cx="192024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43000" y="4091940"/>
            <a:ext cx="1920240" cy="256032"/>
          </a:xfrm>
          <a:prstGeom prst="rect">
            <a:avLst/>
          </a:prstGeom>
          <a:noFill/>
        </p:spPr>
        <p:txBody>
          <a:bodyPr wrap="square" tIns="0" bIns="0" lIns="0" rIns="0">
            <a:spAutoFit/>
          </a:bodyPr>
          <a:lstStyle/>
          <a:p>
            <a:pPr algn="ctr">
              <a:spcBef>
                <a:spcPts val="0"/>
              </a:spcBef>
              <a:spcAft>
                <a:spcPts val="0"/>
              </a:spcAft>
            </a:pPr>
            <a:r>
              <a:rPr sz="1200" b="1">
                <a:solidFill>
                  <a:srgbClr val="007F83"/>
                </a:solidFill>
                <a:latin typeface="Segoe UI"/>
              </a:rPr>
              <a:t>Bronze</a:t>
            </a:r>
          </a:p>
        </p:txBody>
      </p:sp>
      <p:sp>
        <p:nvSpPr>
          <p:cNvPr id="61" name="Rectangle 60"/>
          <p:cNvSpPr/>
          <p:nvPr/>
        </p:nvSpPr>
        <p:spPr>
          <a:xfrm>
            <a:off x="7178040" y="5897880"/>
            <a:ext cx="3931920" cy="292608"/>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78040" y="5920740"/>
            <a:ext cx="3931920" cy="256032"/>
          </a:xfrm>
          <a:prstGeom prst="rect">
            <a:avLst/>
          </a:prstGeom>
          <a:noFill/>
        </p:spPr>
        <p:txBody>
          <a:bodyPr wrap="square" tIns="0" bIns="0" lIns="0" rIns="0">
            <a:spAutoFit/>
          </a:bodyPr>
          <a:lstStyle/>
          <a:p>
            <a:pPr algn="ctr">
              <a:spcBef>
                <a:spcPts val="0"/>
              </a:spcBef>
              <a:spcAft>
                <a:spcPts val="0"/>
              </a:spcAft>
            </a:pPr>
            <a:r>
              <a:rPr sz="1100" b="1">
                <a:solidFill>
                  <a:srgbClr val="007F83"/>
                </a:solidFill>
                <a:latin typeface="Segoe UI"/>
              </a:rPr>
              <a:t>3  SQL or Spark/Livy execution</a:t>
            </a:r>
          </a:p>
        </p:txBody>
      </p:sp>
      <p:sp>
        <p:nvSpPr>
          <p:cNvPr id="63" name="TextBox 62"/>
          <p:cNvSpPr txBox="1"/>
          <p:nvPr/>
        </p:nvSpPr>
        <p:spPr>
          <a:xfrm>
            <a:off x="5797296" y="3621024"/>
            <a:ext cx="914400" cy="201168"/>
          </a:xfrm>
          <a:prstGeom prst="rect">
            <a:avLst/>
          </a:prstGeom>
          <a:noFill/>
        </p:spPr>
        <p:txBody>
          <a:bodyPr wrap="square" tIns="0" bIns="0" lIns="0" rIns="0">
            <a:spAutoFit/>
          </a:bodyPr>
          <a:lstStyle/>
          <a:p>
            <a:pPr>
              <a:spcBef>
                <a:spcPts val="0"/>
              </a:spcBef>
              <a:spcAft>
                <a:spcPts val="0"/>
              </a:spcAft>
            </a:pPr>
            <a:r>
              <a:rPr sz="1050" b="0">
                <a:solidFill>
                  <a:srgbClr val="52677D"/>
                </a:solidFill>
                <a:latin typeface="Segoe UI"/>
              </a:rPr>
              <a:t>job ID</a:t>
            </a:r>
          </a:p>
        </p:txBody>
      </p:sp>
      <p:sp>
        <p:nvSpPr>
          <p:cNvPr id="64" name="TextBox 63"/>
          <p:cNvSpPr txBox="1"/>
          <p:nvPr/>
        </p:nvSpPr>
        <p:spPr>
          <a:xfrm>
            <a:off x="9829800" y="2386584"/>
            <a:ext cx="3749039" cy="146304"/>
          </a:xfrm>
          <a:prstGeom prst="rect">
            <a:avLst/>
          </a:prstGeom>
          <a:noFill/>
        </p:spPr>
        <p:txBody>
          <a:bodyPr wrap="square" tIns="0" bIns="0" lIns="0" rIns="0">
            <a:spAutoFit/>
          </a:bodyPr>
          <a:lstStyle/>
          <a:p>
            <a:pPr algn="ctr">
              <a:spcBef>
                <a:spcPts val="0"/>
              </a:spcBef>
              <a:spcAft>
                <a:spcPts val="0"/>
              </a:spcAft>
            </a:pPr>
            <a:r>
              <a:rPr sz="900" b="0">
                <a:solidFill>
                  <a:srgbClr val="52677D"/>
                </a:solidFill>
                <a:latin typeface="Segoe UI"/>
              </a:rPr>
              <a:t>On-premises server or a cloud host</a:t>
            </a:r>
          </a:p>
        </p:txBody>
      </p:sp>
      <p:sp>
        <p:nvSpPr>
          <p:cNvPr id="65" name="Rounded Rectangle 64"/>
          <p:cNvSpPr/>
          <p:nvPr/>
        </p:nvSpPr>
        <p:spPr>
          <a:xfrm>
            <a:off x="548640" y="6629400"/>
            <a:ext cx="13533120" cy="850392"/>
          </a:xfrm>
          <a:prstGeom prst="roundRect">
            <a:avLst>
              <a:gd name="adj" fmla="val 12000"/>
            </a:avLst>
          </a:prstGeom>
          <a:solidFill>
            <a:srgbClr val="EAF4F4"/>
          </a:solidFill>
          <a:ln w="12700">
            <a:solidFill>
              <a:srgbClr val="D7E9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7240" y="6757416"/>
            <a:ext cx="13075920" cy="292608"/>
          </a:xfrm>
          <a:prstGeom prst="rect">
            <a:avLst/>
          </a:prstGeom>
          <a:noFill/>
        </p:spPr>
        <p:txBody>
          <a:bodyPr wrap="square" tIns="0" bIns="0" lIns="0" rIns="0">
            <a:spAutoFit/>
          </a:bodyPr>
          <a:lstStyle/>
          <a:p>
            <a:pPr>
              <a:spcBef>
                <a:spcPts val="0"/>
              </a:spcBef>
              <a:spcAft>
                <a:spcPts val="0"/>
              </a:spcAft>
            </a:pPr>
            <a:r>
              <a:rPr sz="1800" b="1">
                <a:solidFill>
                  <a:srgbClr val="16304E"/>
                </a:solidFill>
                <a:latin typeface="Segoe UI"/>
              </a:rPr>
              <a:t>A successful API submission is not a successful transformation.</a:t>
            </a:r>
          </a:p>
        </p:txBody>
      </p:sp>
      <p:sp>
        <p:nvSpPr>
          <p:cNvPr id="67" name="TextBox 66"/>
          <p:cNvSpPr txBox="1"/>
          <p:nvPr/>
        </p:nvSpPr>
        <p:spPr>
          <a:xfrm>
            <a:off x="777240" y="7159752"/>
            <a:ext cx="13075920" cy="228600"/>
          </a:xfrm>
          <a:prstGeom prst="rect">
            <a:avLst/>
          </a:prstGeom>
          <a:noFill/>
        </p:spPr>
        <p:txBody>
          <a:bodyPr wrap="square" tIns="0" bIns="0" lIns="0" rIns="0">
            <a:spAutoFit/>
          </a:bodyPr>
          <a:lstStyle/>
          <a:p>
            <a:pPr>
              <a:spcBef>
                <a:spcPts val="0"/>
              </a:spcBef>
              <a:spcAft>
                <a:spcPts val="0"/>
              </a:spcAft>
            </a:pPr>
            <a:r>
              <a:rPr sz="1200" b="0">
                <a:solidFill>
                  <a:srgbClr val="52677D"/>
                </a:solidFill>
                <a:latin typeface="Segoe UI"/>
              </a:rPr>
              <a:t>dbt Core needs a real job service / hosting API. Use an approved network path or gateway where required; never expose a laptop shell.</a:t>
            </a:r>
          </a:p>
        </p:txBody>
      </p:sp>
      <p:sp>
        <p:nvSpPr>
          <p:cNvPr id="68" name="TextBox 67"/>
          <p:cNvSpPr txBox="1"/>
          <p:nvPr/>
        </p:nvSpPr>
        <p:spPr>
          <a:xfrm>
            <a:off x="566928" y="7799831"/>
            <a:ext cx="173736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9"/>
              </a:rPr>
              <a:t>Fabric Web activity</a:t>
            </a:r>
          </a:p>
        </p:txBody>
      </p:sp>
      <p:sp>
        <p:nvSpPr>
          <p:cNvPr id="69" name="TextBox 68"/>
          <p:cNvSpPr txBox="1"/>
          <p:nvPr/>
        </p:nvSpPr>
        <p:spPr>
          <a:xfrm>
            <a:off x="2532888" y="7799831"/>
            <a:ext cx="164592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10"/>
              </a:rPr>
              <a:t>Warehouse adapter</a:t>
            </a:r>
          </a:p>
        </p:txBody>
      </p:sp>
      <p:sp>
        <p:nvSpPr>
          <p:cNvPr id="70" name="TextBox 69"/>
          <p:cNvSpPr txBox="1"/>
          <p:nvPr/>
        </p:nvSpPr>
        <p:spPr>
          <a:xfrm>
            <a:off x="4407408" y="7799831"/>
            <a:ext cx="1645920" cy="219456"/>
          </a:xfrm>
          <a:prstGeom prst="rect">
            <a:avLst/>
          </a:prstGeom>
          <a:noFill/>
        </p:spPr>
        <p:txBody>
          <a:bodyPr wrap="square" tIns="0" bIns="0" lIns="0" rIns="0">
            <a:spAutoFit/>
          </a:bodyPr>
          <a:lstStyle/>
          <a:p>
            <a:pPr>
              <a:spcBef>
                <a:spcPts val="0"/>
              </a:spcBef>
              <a:spcAft>
                <a:spcPts val="0"/>
              </a:spcAft>
            </a:pPr>
            <a:r>
              <a:rPr sz="1000" b="0">
                <a:solidFill>
                  <a:srgbClr val="2866BD"/>
                </a:solidFill>
                <a:latin typeface="Segoe UI"/>
                <a:hlinkClick r:id="rId11"/>
              </a:rPr>
              <a:t>Lakehouse adapter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 and External Orchestration - Two Architecture Patterns</dc:title>
  <dc:subject>Generic Airflow, dbt and Microsoft Fabric architecture</dc:subject>
  <dc:creator>Architecture Reference</dc:creator>
  <cp:keywords>Fabric, Airflow, dbt, orchestration, architecture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